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2A1B4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35074"/>
            <a:ext cx="173736" cy="368046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" y="1472184"/>
            <a:ext cx="173736" cy="630936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1209294"/>
            <a:ext cx="173736" cy="893826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563624" y="1051560"/>
            <a:ext cx="173736" cy="1051560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7" name="Shape 5"/>
          <p:cNvSpPr/>
          <p:nvPr/>
        </p:nvSpPr>
        <p:spPr>
          <a:xfrm>
            <a:off x="1856232" y="1367028"/>
            <a:ext cx="173736" cy="736092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1156716"/>
            <a:ext cx="173736" cy="946404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9" name="Shape 7"/>
          <p:cNvSpPr/>
          <p:nvPr/>
        </p:nvSpPr>
        <p:spPr>
          <a:xfrm>
            <a:off x="2441448" y="1577340"/>
            <a:ext cx="173736" cy="525780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10" name="Shape 8"/>
          <p:cNvSpPr/>
          <p:nvPr/>
        </p:nvSpPr>
        <p:spPr>
          <a:xfrm>
            <a:off x="2734056" y="1314450"/>
            <a:ext cx="173736" cy="788670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11" name="Shape 9"/>
          <p:cNvSpPr/>
          <p:nvPr/>
        </p:nvSpPr>
        <p:spPr>
          <a:xfrm>
            <a:off x="3026664" y="1682496"/>
            <a:ext cx="173736" cy="420624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agentic money OS </a:t>
            </a:r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actually trust.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to move, convert, and pay across any currency — with security built into every step.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58064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806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NITHUB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58064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5806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BMONI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5806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cadence-dun-five.vercel.app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money across currencies is still 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slow, costly, and manual.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41832" y="3127248"/>
            <a:ext cx="548640" cy="54864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3198571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3401568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00400" y="283464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56432" y="3127248"/>
            <a:ext cx="548640" cy="54864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755" y="3198571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56432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401568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715000" y="283464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971032" y="3127248"/>
            <a:ext cx="548640" cy="54864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355" y="3198571"/>
            <a:ext cx="405994" cy="4059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71032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848" y="3401568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229600" y="2834640"/>
            <a:ext cx="2148840" cy="1371600"/>
          </a:xfrm>
          <a:prstGeom prst="roundRect">
            <a:avLst>
              <a:gd name="adj" fmla="val 6667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8485632" y="3127248"/>
            <a:ext cx="548640" cy="54864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955" y="3198571"/>
            <a:ext cx="405994" cy="40599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485632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 a bill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8580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apps. Every step is friction — and every conversion is a hidden tax.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8732520" y="5074920"/>
            <a:ext cx="2788920" cy="1234440"/>
          </a:xfrm>
          <a:prstGeom prst="roundRect">
            <a:avLst>
              <a:gd name="adj" fmla="val 7407"/>
            </a:avLst>
          </a:prstGeom>
          <a:solidFill>
            <a:srgbClr val="2A1B4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8732520" y="513892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millions</a:t>
            </a:r>
            <a:endParaRPr lang="en-US" sz="3400" dirty="0"/>
          </a:p>
        </p:txBody>
      </p:sp>
      <p:sp>
        <p:nvSpPr>
          <p:cNvPr id="29" name="Text 20"/>
          <p:cNvSpPr/>
          <p:nvPr/>
        </p:nvSpPr>
        <p:spPr>
          <a:xfrm>
            <a:off x="8869680" y="57424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cross-border earners in emerging markets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FEELS 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Cross-border earners — </a:t>
            </a:r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people money apps forgot.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69848" y="3108960"/>
            <a:ext cx="713232" cy="713232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568" y="3201680"/>
            <a:ext cx="527792" cy="5277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Freelancers &amp; remote workers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69848" y="47091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USD, living in naira — earning globally, banking locally.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16552" y="2743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3108960"/>
            <a:ext cx="713232" cy="713232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320" y="3201680"/>
            <a:ext cx="527792" cy="527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Families across borders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00600" y="47091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and receiving support between countries, every month.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47304" y="27432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31352" y="3108960"/>
            <a:ext cx="713232" cy="713232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072" y="3201680"/>
            <a:ext cx="527792" cy="5277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31352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importers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531352" y="47091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paying in two currencies at once, by hand.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could run all of this.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10835640" cy="2148840"/>
          </a:xfrm>
          <a:prstGeom prst="roundRect">
            <a:avLst>
              <a:gd name="adj" fmla="val 4255"/>
            </a:avLst>
          </a:prstGeom>
          <a:solidFill>
            <a:srgbClr val="16161D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260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9718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i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my money. Why would I let an </a:t>
            </a:r>
            <a:pPr indent="0" marL="0">
              <a:lnSpc>
                <a:spcPct val="100000"/>
              </a:lnSpc>
              <a:buNone/>
            </a:pPr>
            <a:r>
              <a:rPr lang="en-US" sz="3400" b="1" i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pPr indent="0" marL="0">
              <a:lnSpc>
                <a:spcPct val="100000"/>
              </a:lnSpc>
              <a:buNone/>
            </a:pPr>
            <a:r>
              <a:rPr lang="en-US" sz="3400" b="1" i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touch it?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3232" y="5120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real blocker — not the technology. Whoever solves it unlocks agentic finance. </a:t>
            </a:r>
            <a:pPr indent="0" marL="0">
              <a:buNone/>
            </a:pPr>
            <a:r>
              <a:rPr lang="en-US" sz="17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Cadence.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agentic money OS you run by </a:t>
            </a:r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chatting.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962656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389" y="3036357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8895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Just say it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325526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Cadence what you want — it converts, allocates, and pays.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" y="3913632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4133088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89" y="4206789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40599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Currency-agnostic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91640" y="442569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 currency from any balance, routed live through BMONI.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5800" y="5084064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2688" y="5303520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89" y="537722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52303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level of control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559612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Hybrid or Manual — you decide how much it runs.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0" y="2743200"/>
            <a:ext cx="3749040" cy="3328416"/>
          </a:xfrm>
          <a:prstGeom prst="roundRect">
            <a:avLst>
              <a:gd name="adj" fmla="val 2747"/>
            </a:avLst>
          </a:prstGeom>
          <a:solidFill>
            <a:srgbClr val="2A1B4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 MODES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046720" y="3429000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A0A0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0" y="3602736"/>
            <a:ext cx="402336" cy="402336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904" y="3655040"/>
            <a:ext cx="297729" cy="297729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365760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7824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778240" y="3831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your money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4288536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A0A0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29600" y="4462272"/>
            <a:ext cx="402336" cy="402336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1904" y="4514576"/>
            <a:ext cx="297729" cy="297729"/>
          </a:xfrm>
          <a:prstGeom prst="rect">
            <a:avLst/>
          </a:prstGeom>
        </p:spPr>
      </p:pic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4517136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778240" y="43799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778240" y="4690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Agent-first, controls a tap away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8046720" y="5148072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A0A0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8229600" y="5321808"/>
            <a:ext cx="402336" cy="402336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1904" y="5374112"/>
            <a:ext cx="297729" cy="297729"/>
          </a:xfrm>
          <a:prstGeom prst="rect">
            <a:avLst/>
          </a:prstGeom>
        </p:spPr>
      </p:pic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4464" y="5376672"/>
            <a:ext cx="292608" cy="29260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778240" y="5239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1400" dirty="0"/>
          </a:p>
        </p:txBody>
      </p:sp>
      <p:sp>
        <p:nvSpPr>
          <p:cNvPr id="41" name="Text 30"/>
          <p:cNvSpPr/>
          <p:nvPr/>
        </p:nvSpPr>
        <p:spPr>
          <a:xfrm>
            <a:off x="8778240" y="5550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drive; it assists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in, money out — </a:t>
            </a:r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 firewall in between.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08176" y="3172968"/>
            <a:ext cx="640080" cy="640080"/>
          </a:xfrm>
          <a:prstGeom prst="ellipse">
            <a:avLst/>
          </a:prstGeom>
          <a:solidFill>
            <a:srgbClr val="1E1E2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386" y="3256178"/>
            <a:ext cx="473659" cy="47365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" y="33101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3816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95528" y="40233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chat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95528" y="441655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916936" y="28803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39312" y="3172968"/>
            <a:ext cx="640080" cy="640080"/>
          </a:xfrm>
          <a:prstGeom prst="ellipse">
            <a:avLst/>
          </a:prstGeom>
          <a:solidFill>
            <a:srgbClr val="1E1E2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22" y="3256178"/>
            <a:ext cx="473659" cy="473659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331012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44952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026664" y="40233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proposes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3026664" y="441655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intent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148072" y="28803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2A1B45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870448" y="3172968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658" y="3256178"/>
            <a:ext cx="473659" cy="473659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3310128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76088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257800" y="40233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 validates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5257800" y="441655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your rules &amp; signs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7379208" y="28803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101584" y="3172968"/>
            <a:ext cx="640080" cy="640080"/>
          </a:xfrm>
          <a:prstGeom prst="ellipse">
            <a:avLst/>
          </a:prstGeom>
          <a:solidFill>
            <a:srgbClr val="1E1E28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4794" y="3256178"/>
            <a:ext cx="473659" cy="473659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8744" y="3310128"/>
            <a:ext cx="365760" cy="36576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507224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7488936" y="40233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BMONI settles</a:t>
            </a:r>
            <a:endParaRPr lang="en-US" sz="1450" dirty="0"/>
          </a:p>
        </p:txBody>
      </p:sp>
      <p:sp>
        <p:nvSpPr>
          <p:cNvPr id="34" name="Text 24"/>
          <p:cNvSpPr/>
          <p:nvPr/>
        </p:nvSpPr>
        <p:spPr>
          <a:xfrm>
            <a:off x="7488936" y="441655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live rate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9610344" y="288036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10332720" y="3172968"/>
            <a:ext cx="640080" cy="640080"/>
          </a:xfrm>
          <a:prstGeom prst="ellipse">
            <a:avLst/>
          </a:prstGeom>
          <a:solidFill>
            <a:srgbClr val="1E1E28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930" y="3256178"/>
            <a:ext cx="473659" cy="473659"/>
          </a:xfrm>
          <a:prstGeom prst="rect">
            <a:avLst/>
          </a:prstGeom>
        </p:spPr>
      </p:pic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9880" y="3310128"/>
            <a:ext cx="365760" cy="36576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9738360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9720072" y="40233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get</a:t>
            </a:r>
            <a:endParaRPr lang="en-US" sz="1450" dirty="0"/>
          </a:p>
        </p:txBody>
      </p:sp>
      <p:sp>
        <p:nvSpPr>
          <p:cNvPr id="41" name="Text 29"/>
          <p:cNvSpPr/>
          <p:nvPr/>
        </p:nvSpPr>
        <p:spPr>
          <a:xfrm>
            <a:off x="9720072" y="441655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receipt + reasoning</a:t>
            </a:r>
            <a:endParaRPr lang="en-US" sz="1150" dirty="0"/>
          </a:p>
        </p:txBody>
      </p:sp>
      <p:sp>
        <p:nvSpPr>
          <p:cNvPr id="42" name="Text 30"/>
          <p:cNvSpPr/>
          <p:nvPr/>
        </p:nvSpPr>
        <p:spPr>
          <a:xfrm>
            <a:off x="68580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proposes. It never holds the keys. </a:t>
            </a:r>
            <a:pPr algn="ctr"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— with your keys and your rules — is the only thing that can pay.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move 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money.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03120" y="2926080"/>
            <a:ext cx="2377440" cy="548640"/>
          </a:xfrm>
          <a:prstGeom prst="roundRect">
            <a:avLst>
              <a:gd name="adj" fmla="val 23333"/>
            </a:avLst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Musa ₦20k from my dollars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0A0A0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money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40416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Musa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₦20,000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4681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~$14.45 at ₦1,384/$ · via BMONI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463040" y="52120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E1E28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 </a:t>
            </a:r>
            <a:pPr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CDN5427857391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5614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via Cadence · powered by BMONI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2743200"/>
            <a:ext cx="603504" cy="603504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0536" y="2821656"/>
            <a:ext cx="446593" cy="44659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2724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BMONI wallets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98932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USD (USDB) + naira (CNGN).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212080" y="3886200"/>
            <a:ext cx="603504" cy="603504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536" y="3964656"/>
            <a:ext cx="446593" cy="44659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89320" y="3867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FX conversion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5989320" y="4251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exchange, balances actually move.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5212080" y="5029200"/>
            <a:ext cx="603504" cy="603504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536" y="5107656"/>
            <a:ext cx="446593" cy="44659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89320" y="5010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On-chain settlement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5989320" y="5394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Owner-key signed — not a mockup.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5212080" y="5806440"/>
            <a:ext cx="6309360" cy="566928"/>
          </a:xfrm>
          <a:prstGeom prst="roundRect">
            <a:avLst>
              <a:gd name="adj" fmla="val 16129"/>
            </a:avLst>
          </a:prstGeom>
          <a:solidFill>
            <a:srgbClr val="2A1B4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394960" y="58064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convert $5 → naira, watch balances change — then a chat payment end-to-end.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Architecture — </a:t>
            </a:r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autonomy without surrender.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05256" y="3044952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957" y="3118653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18488" y="2907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never holds the keys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18488" y="3310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proposes — it can't sign or pay.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274320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2856" y="3044952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557" y="3118653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088" y="2907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Spending guardrails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276088" y="3310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Per-payment &amp; daily caps it runs inside.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01000" y="274320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0456" y="3044952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157" y="3118653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33688" y="2907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Risk-based step-up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933688" y="3310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demand PIN + safe-word.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5800" y="4059936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5256" y="4361688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57" y="4435389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18488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Safe-word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618488" y="46268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coercion &amp; impersonation.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43400" y="4059936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62856" y="4361688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557" y="4435389"/>
            <a:ext cx="419527" cy="41952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76088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defense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276088" y="46268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are data, never commands.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01000" y="4059936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20456" y="4361688"/>
            <a:ext cx="566928" cy="566928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157" y="4435389"/>
            <a:ext cx="419527" cy="41952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33688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Freeze switch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933688" y="46268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halts the agent instantly.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68580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AI is jailbroken, it cannot move money — </a:t>
            </a:r>
            <a:pPr algn="ctr" indent="0" marL="0">
              <a:buNone/>
            </a:pPr>
            <a:r>
              <a:rPr lang="en-US" sz="14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keys, and it lives inside your fence.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BMONI is the </a:t>
            </a:r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engine</a:t>
            </a:r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under the agent.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971800"/>
            <a:ext cx="548640" cy="548640"/>
          </a:xfrm>
          <a:prstGeom prst="ellipse">
            <a:avLst/>
          </a:prstGeom>
          <a:solidFill>
            <a:srgbClr val="1E1E2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3043123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099816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26974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30752" y="2971800"/>
            <a:ext cx="548640" cy="548640"/>
          </a:xfrm>
          <a:prstGeom prst="ellipse">
            <a:avLst/>
          </a:prstGeom>
          <a:solidFill>
            <a:srgbClr val="1E1E2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04312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8912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proposes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099816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09360" y="26974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565392" y="2971800"/>
            <a:ext cx="548640" cy="548640"/>
          </a:xfrm>
          <a:prstGeom prst="ellipse">
            <a:avLst/>
          </a:prstGeom>
          <a:solidFill>
            <a:srgbClr val="1E1E2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715" y="3043123"/>
            <a:ext cx="405994" cy="4059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2376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 signs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309981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44000" y="26974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2A1B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400032" y="297180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1355" y="3043123"/>
            <a:ext cx="405994" cy="405994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3081528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0584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BMONI rails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86868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is the interface. BMONI is the rails.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685800" y="46177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905256" y="4855464"/>
            <a:ext cx="512064" cy="512064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824" y="4922032"/>
            <a:ext cx="378927" cy="378927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05256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Per-user smart wallets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905256" y="57150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USDB + CNGN, provisioned at onboarding.</a:t>
            </a:r>
            <a:endParaRPr lang="en-US" sz="1050" dirty="0"/>
          </a:p>
        </p:txBody>
      </p:sp>
      <p:sp>
        <p:nvSpPr>
          <p:cNvPr id="33" name="Shape 22"/>
          <p:cNvSpPr/>
          <p:nvPr/>
        </p:nvSpPr>
        <p:spPr>
          <a:xfrm>
            <a:off x="3502152" y="46177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3721608" y="4855464"/>
            <a:ext cx="512064" cy="512064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88176" y="4922032"/>
            <a:ext cx="378927" cy="378927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3721608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FX conversion</a:t>
            </a:r>
            <a:endParaRPr lang="en-US" sz="1300" dirty="0"/>
          </a:p>
        </p:txBody>
      </p:sp>
      <p:sp>
        <p:nvSpPr>
          <p:cNvPr id="37" name="Text 25"/>
          <p:cNvSpPr/>
          <p:nvPr/>
        </p:nvSpPr>
        <p:spPr>
          <a:xfrm>
            <a:off x="3721608" y="57150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exchange rates, on every payment.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6318504" y="46177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6537960" y="4855464"/>
            <a:ext cx="512064" cy="512064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4528" y="4922032"/>
            <a:ext cx="378927" cy="378927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537960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Owner-key signing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537960" y="57150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rest; keys never in the browser.</a:t>
            </a:r>
            <a:endParaRPr lang="en-US" sz="1050" dirty="0"/>
          </a:p>
        </p:txBody>
      </p:sp>
      <p:sp>
        <p:nvSpPr>
          <p:cNvPr id="43" name="Shape 30"/>
          <p:cNvSpPr/>
          <p:nvPr/>
        </p:nvSpPr>
        <p:spPr>
          <a:xfrm>
            <a:off x="9134856" y="46177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9354312" y="4855464"/>
            <a:ext cx="512064" cy="512064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0880" y="4922032"/>
            <a:ext cx="378927" cy="378927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9354312" y="5440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 account each user</a:t>
            </a:r>
            <a:endParaRPr lang="en-US" sz="1300" dirty="0"/>
          </a:p>
        </p:txBody>
      </p:sp>
      <p:sp>
        <p:nvSpPr>
          <p:cNvPr id="47" name="Text 33"/>
          <p:cNvSpPr/>
          <p:nvPr/>
        </p:nvSpPr>
        <p:spPr>
          <a:xfrm>
            <a:off x="9354312" y="57150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multi-user auth, real balances.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real, it's live, and </a:t>
            </a:r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the safe one.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69848" y="3108960"/>
            <a:ext cx="731520" cy="73152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946" y="3204058"/>
            <a:ext cx="541325" cy="5413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" y="4023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&amp; working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auth, real BMONI money movement, real receipts — not a chat box over a fake balance.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16552" y="27432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3108960"/>
            <a:ext cx="731520" cy="73152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8" y="320405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4023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trust story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800600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 Architecture no other agent has — the answer to 'is it safe?'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47304" y="27432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31352" y="3108960"/>
            <a:ext cx="731520" cy="73152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50" y="3204058"/>
            <a:ext cx="541325" cy="5413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31352" y="4023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Genuinely useful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31352" y="4526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Currency-agnostic, conversational, and explainable end-to-end.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85855" y="6309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money — </a:t>
            </a:r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everyone, safely.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10835640" cy="960120"/>
          </a:xfrm>
          <a:prstGeom prst="roundRect">
            <a:avLst>
              <a:gd name="adj" fmla="val 9524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944368"/>
            <a:ext cx="548640" cy="54864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3015691"/>
            <a:ext cx="405994" cy="405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Cheaper &amp; effortless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3246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cost and manual work of cross-border money for ordinary earners.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3840480"/>
            <a:ext cx="10835640" cy="960120"/>
          </a:xfrm>
          <a:prstGeom prst="roundRect">
            <a:avLst>
              <a:gd name="adj" fmla="val 9524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4041648"/>
            <a:ext cx="548640" cy="54864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" y="411297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enough to adopt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9164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autonomy trustworthy — the real unlock for agentic finance.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4937760"/>
            <a:ext cx="10835640" cy="960120"/>
          </a:xfrm>
          <a:prstGeom prst="roundRect">
            <a:avLst>
              <a:gd name="adj" fmla="val 9524"/>
            </a:avLst>
          </a:prstGeom>
          <a:solidFill>
            <a:srgbClr val="16161D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2688" y="5138928"/>
            <a:ext cx="548640" cy="548640"/>
          </a:xfrm>
          <a:prstGeom prst="ellipse">
            <a:avLst/>
          </a:prstGeom>
          <a:solidFill>
            <a:srgbClr val="2A1B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5210251"/>
            <a:ext cx="405994" cy="40599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Corridor-agnostic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5440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any BMONI-supported currency corridor.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85800" y="5943600"/>
            <a:ext cx="10835640" cy="502920"/>
          </a:xfrm>
          <a:prstGeom prst="roundRect">
            <a:avLst>
              <a:gd name="adj" fmla="val 18182"/>
            </a:avLst>
          </a:prstGeom>
          <a:solidFill>
            <a:srgbClr val="2A1B4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594360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'Everyone' only happens if it's safe enough for people who can't afford a mistake.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029200" cy="5029200"/>
          </a:xfrm>
          <a:prstGeom prst="ellipse">
            <a:avLst/>
          </a:prstGeom>
          <a:solidFill>
            <a:srgbClr val="2A1B4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933956"/>
            <a:ext cx="173736" cy="352044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" y="1682496"/>
            <a:ext cx="173736" cy="603504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1431036"/>
            <a:ext cx="173736" cy="854964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563624" y="1280160"/>
            <a:ext cx="173736" cy="1005840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7" name="Shape 5"/>
          <p:cNvSpPr/>
          <p:nvPr/>
        </p:nvSpPr>
        <p:spPr>
          <a:xfrm>
            <a:off x="1856232" y="1581912"/>
            <a:ext cx="173736" cy="704088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1380744"/>
            <a:ext cx="173736" cy="905256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9" name="Shape 7"/>
          <p:cNvSpPr/>
          <p:nvPr/>
        </p:nvSpPr>
        <p:spPr>
          <a:xfrm>
            <a:off x="2441448" y="1783080"/>
            <a:ext cx="173736" cy="502920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10" name="Shape 8"/>
          <p:cNvSpPr/>
          <p:nvPr/>
        </p:nvSpPr>
        <p:spPr>
          <a:xfrm>
            <a:off x="2734056" y="1531620"/>
            <a:ext cx="173736" cy="754380"/>
          </a:xfrm>
          <a:prstGeom prst="roundRect">
            <a:avLst>
              <a:gd name="adj" fmla="val 36842"/>
            </a:avLst>
          </a:prstGeom>
          <a:solidFill>
            <a:srgbClr val="C084FC"/>
          </a:solidFill>
          <a:ln/>
        </p:spPr>
      </p:sp>
      <p:sp>
        <p:nvSpPr>
          <p:cNvPr id="11" name="Shape 9"/>
          <p:cNvSpPr/>
          <p:nvPr/>
        </p:nvSpPr>
        <p:spPr>
          <a:xfrm>
            <a:off x="3026664" y="1883664"/>
            <a:ext cx="173736" cy="402336"/>
          </a:xfrm>
          <a:prstGeom prst="roundRect">
            <a:avLst>
              <a:gd name="adj" fmla="val 36842"/>
            </a:avLst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97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Cadence — </a:t>
            </a:r>
            <a:pPr indent="0" marL="0">
              <a:buNone/>
            </a:pPr>
            <a:r>
              <a:rPr lang="en-US" sz="5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your rhythm.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13232" y="3886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you can hand your money to — because it's built so you never have to give up control.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4937760"/>
            <a:ext cx="4206240" cy="640080"/>
          </a:xfrm>
          <a:prstGeom prst="roundRect">
            <a:avLst>
              <a:gd name="adj" fmla="val 14286"/>
            </a:avLst>
          </a:prstGeom>
          <a:solidFill>
            <a:srgbClr val="16161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37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</a:t>
            </a:r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cadence-dun-five.vercel.app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solo, end-to-end, on BMONI.  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— Agentic Money OS</dc:title>
  <dc:subject>PptxGenJS Presentation</dc:subject>
  <dc:creator>Cadence</dc:creator>
  <cp:lastModifiedBy>Cadence</cp:lastModifiedBy>
  <cp:revision>1</cp:revision>
  <dcterms:created xsi:type="dcterms:W3CDTF">2026-07-30T16:40:53Z</dcterms:created>
  <dcterms:modified xsi:type="dcterms:W3CDTF">2026-07-30T16:40:53Z</dcterms:modified>
</cp:coreProperties>
</file>